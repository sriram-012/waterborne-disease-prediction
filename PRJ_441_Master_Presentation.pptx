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t>Mini Project (CSE7102)</a:t>
            </a:r>
          </a:p>
          <a:p>
            <a:r>
              <a:t>REVIEW-2</a:t>
            </a:r>
          </a:p>
          <a:p>
            <a:r>
              <a:t>26-09-2026</a:t>
            </a: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defRPr sz="2000" b="1"/>
            </a:pPr>
            <a:r>
              <a:t>Waterborne Disease Outbreak Risk Prediction System (ML + GIS)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Project ID: PRJ_441</a:t>
            </a: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t>Under the Supervision of,</a:t>
            </a:r>
          </a:p>
          <a:p>
            <a:r>
              <a:t>[Faculty Mentor / Project Guide Name]</a:t>
            </a:r>
          </a:p>
          <a:p>
            <a:r>
              <a:t>Assistant / Associate Professor</a:t>
            </a:r>
          </a:p>
          <a:p>
            <a:r>
              <a:t>School of Computer Science and Engineering</a:t>
            </a:r>
          </a:p>
          <a:p>
            <a:r>
              <a:t>Presidency University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Name of the Program(s): B.Tech - Computer Science and Engineering</a:t>
            </a:r>
          </a:p>
          <a:p>
            <a:r>
              <a:t>Name of the HoD (Team Leader's): Dr. [HoD Name]</a:t>
            </a:r>
          </a:p>
          <a:p>
            <a:r>
              <a:t>Name of the Program Project Coordinator: Dr./Prof. [Coordinator Name]</a:t>
            </a:r>
          </a:p>
          <a:p>
            <a:r>
              <a:t>Name of the School Project Coordinators: Mr. Muthuraju V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/>
                        <a:t>Sl.No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Student Name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Number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Sriram (Team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[Roll Number 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[Team Member 2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[Roll Number 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[Team Member 3 Name]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[Roll Number 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t>Panel No: [Your Panel No]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NDEX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  <a:defRPr sz="1500"/>
            </a:pPr>
            <a:r>
              <a:t>1. Problem Statement &amp; Motivation</a:t>
            </a:r>
          </a:p>
          <a:p>
            <a:pPr>
              <a:defRPr sz="1500"/>
            </a:pPr>
            <a:r>
              <a:t>2. Project Objectives</a:t>
            </a:r>
          </a:p>
          <a:p>
            <a:pPr>
              <a:defRPr sz="1500"/>
            </a:pPr>
            <a:r>
              <a:t>3. Literature &amp; Research Understanding</a:t>
            </a:r>
          </a:p>
          <a:p>
            <a:pPr>
              <a:defRPr sz="1500"/>
            </a:pPr>
            <a:r>
              <a:t>4. Methodology &amp; System Architecture</a:t>
            </a:r>
          </a:p>
          <a:p>
            <a:pPr>
              <a:defRPr sz="1500"/>
            </a:pPr>
            <a:r>
              <a:t>5. Implementation Progress (Review-2: 60% Milestone)</a:t>
            </a:r>
          </a:p>
          <a:p>
            <a:pPr>
              <a:defRPr sz="1500"/>
            </a:pPr>
            <a:r>
              <a:t>6. Individual Team Contributions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  <a:defRPr sz="1300"/>
            </a:pPr>
            <a:r>
              <a:t>• The 48-Hour Biological Lab Delay:</a:t>
            </a:r>
          </a:p>
          <a:p>
            <a:pPr>
              <a:defRPr sz="1300"/>
            </a:pPr>
            <a:r>
              <a:t>   - Traditional microbiological testing for waterborne pathogens (Cholera, Typhoid) takes 24 to 72 hours for bacterial culture incubation.</a:t>
            </a:r>
          </a:p>
          <a:p>
            <a:pPr>
              <a:defRPr sz="1300"/>
            </a:pPr>
            <a:r>
              <a:t>   - Contaminated municipal water infects communities during this testing lag before official advisories can be issued.</a:t>
            </a:r>
          </a:p>
          <a:p>
            <a:br/>
            <a:pPr>
              <a:defRPr sz="1300"/>
            </a:pPr>
            <a:r>
              <a:t>• Existing Research &amp; System Gap:</a:t>
            </a:r>
          </a:p>
          <a:p>
            <a:pPr>
              <a:defRPr sz="1300"/>
            </a:pPr>
            <a:r>
              <a:t>   - Current water monitoring relies on delayed, manual laboratory schedules without automated early warning.</a:t>
            </a:r>
          </a:p>
          <a:p>
            <a:pPr>
              <a:defRPr sz="1300"/>
            </a:pPr>
            <a:r>
              <a:t>   - Standard systems lack geographic decision-support mapping linking water chemistry to public health response.</a:t>
            </a:r>
          </a:p>
          <a:p>
            <a:br/>
            <a:pPr>
              <a:defRPr sz="1300"/>
            </a:pPr>
            <a:r>
              <a:t>• Affected Stakeholders &amp; Impact:</a:t>
            </a:r>
          </a:p>
          <a:p>
            <a:pPr>
              <a:defRPr sz="1300"/>
            </a:pPr>
            <a:r>
              <a:t>   - Urban settlements, rural districts, flood-affected areas, and public health authorities.</a:t>
            </a:r>
          </a:p>
          <a:p>
            <a:pPr>
              <a:defRPr sz="1300"/>
            </a:pPr>
            <a:r>
              <a:t>   - Unsafe drinking water causes over 500,000 diarrheal deaths annually worldwide (WHO).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  <a:defRPr sz="1300"/>
            </a:pPr>
            <a:r>
              <a:t>1. Real-World Data Ingestion &amp; Imputation:</a:t>
            </a:r>
          </a:p>
          <a:p>
            <a:pPr>
              <a:defRPr sz="1300"/>
            </a:pPr>
            <a:r>
              <a:t>   - Ingest 3,276 real laboratory water samples from the Kaggle benchmark dataset and apply Median Imputation to 1,434 NaNs without data loss.</a:t>
            </a:r>
          </a:p>
          <a:p>
            <a:br/>
            <a:pPr>
              <a:defRPr sz="1300"/>
            </a:pPr>
            <a:r>
              <a:t>2. Domain-Specific Feature Engineering:</a:t>
            </a:r>
          </a:p>
          <a:p>
            <a:pPr>
              <a:defRPr sz="1300"/>
            </a:pPr>
            <a:r>
              <a:t>   - Formulate a Contamination Risk Index (CRI) from Turbidity, Organic Carbon, and Trihalomethanes, and compute WHO pH safe envelope deviation.</a:t>
            </a:r>
          </a:p>
          <a:p>
            <a:br/>
            <a:pPr>
              <a:defRPr sz="1300"/>
            </a:pPr>
            <a:r>
              <a:t>3. Machine Learning Classification &amp; Benchmarking:</a:t>
            </a:r>
          </a:p>
          <a:p>
            <a:pPr>
              <a:defRPr sz="1300"/>
            </a:pPr>
            <a:r>
              <a:t>   - Train and benchmark a Random Forest Classifier against Logistic Regression on an 80/20 stratified split with balanced class weighting.</a:t>
            </a:r>
          </a:p>
          <a:p>
            <a:br/>
            <a:pPr>
              <a:defRPr sz="1300"/>
            </a:pPr>
            <a:r>
              <a:t>4. GIS Spatial Surveillance &amp; Municipal Advisory Automation:</a:t>
            </a:r>
          </a:p>
          <a:p>
            <a:pPr>
              <a:defRPr sz="1300"/>
            </a:pPr>
            <a:r>
              <a:t>   - Develop an interactive GIS map (outbreak_risk_map.html) categorizing monitoring nodes into Critical, Moderate, and Safe tiers with automated disease alerts.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Literature/research understanding 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  <a:defRPr sz="1300"/>
            </a:pPr>
            <a:r>
              <a:t>• Key Existing Studies &amp; Standards:</a:t>
            </a:r>
          </a:p>
          <a:p>
            <a:pPr>
              <a:defRPr sz="1300"/>
            </a:pPr>
            <a:r>
              <a:t>   - WHO Drinking-Water Quality Guidelines (4th ed., 2022): Established safe baseline limits for pH (6.5-8.5), Turbidity (&lt;5 NTU), and Chloramines (4 ppm).</a:t>
            </a:r>
          </a:p>
          <a:p>
            <a:pPr>
              <a:defRPr sz="1300"/>
            </a:pPr>
            <a:r>
              <a:t>   - Kaggle Water Potability Benchmarks (2021-2024): Confirmed published academic accuracy benchmark of 64%-68% due to low linear feature correlations.</a:t>
            </a:r>
          </a:p>
          <a:p>
            <a:br/>
            <a:pPr>
              <a:defRPr sz="1300"/>
            </a:pPr>
            <a:r>
              <a:t>• Limitations of Existing Work:</a:t>
            </a:r>
          </a:p>
          <a:p>
            <a:pPr>
              <a:defRPr sz="1300"/>
            </a:pPr>
            <a:r>
              <a:t>   - Lab culture methods suffer from a 48-hour testing lag.</a:t>
            </a:r>
          </a:p>
          <a:p>
            <a:pPr>
              <a:defRPr sz="1300"/>
            </a:pPr>
            <a:r>
              <a:t>   - Prior ML projects treat potability purely as an isolated CSV classification (0/1) without spatial GIS mapping or public health action protocols.</a:t>
            </a:r>
          </a:p>
          <a:p>
            <a:br/>
            <a:pPr>
              <a:defRPr sz="1300"/>
            </a:pPr>
            <a:r>
              <a:t>• Identified Research Gap:</a:t>
            </a:r>
          </a:p>
          <a:p>
            <a:pPr>
              <a:defRPr sz="1300"/>
            </a:pPr>
            <a:r>
              <a:t>   - Need for an integrated, real-time decision-support system that converts instant chemical sensor readings into spatial outbreak risk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Methodology and Architecture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1300"/>
            </a:pPr>
            <a:r>
              <a:t>• 5-Tier System Architecture:</a:t>
            </a: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300"/>
            </a:pPr>
            <a:r>
              <a:t>   1. Data Ingestion Tier: Ingestion of 3,276 water test records (9 chemical features + Potability target).</a:t>
            </a:r>
          </a:p>
          <a:p>
            <a:pPr>
              <a:defRPr sz="1300"/>
            </a:pPr>
            <a:r>
              <a:t>   2. Preprocessing Tier: Profiling missingness (1,434 NaNs) and applying outlier-robust Median Imputation.</a:t>
            </a:r>
          </a:p>
          <a:p>
            <a:pPr>
              <a:defRPr sz="1300"/>
            </a:pPr>
            <a:r>
              <a:t>   3. Feature Engineering Tier: Computing CRI index, WHO pH deviation, and quantile risk tiers.</a:t>
            </a:r>
          </a:p>
          <a:p>
            <a:pPr>
              <a:defRPr sz="1300"/>
            </a:pPr>
            <a:r>
              <a:t>   4. ML Modeling Tier: 200-tree Random Forest Classifier vs. standardized Logistic Regression.</a:t>
            </a:r>
          </a:p>
          <a:p>
            <a:pPr>
              <a:defRPr sz="1300"/>
            </a:pPr>
            <a:r>
              <a:t>   5. GIS Surveillance Tier: Folium multi-layer spatial map with automated municipal action protocols.</a:t>
            </a:r>
          </a:p>
          <a:p>
            <a:br/>
            <a:pPr>
              <a:defRPr sz="1300"/>
            </a:pPr>
            <a:r>
              <a:t>• Object-Oriented Software Architecture (pipeline_oop.py):</a:t>
            </a:r>
          </a:p>
          <a:p>
            <a:pPr>
              <a:defRPr sz="1300"/>
            </a:pPr>
            <a:r>
              <a:t>   - Modular classes: DataLoader, DataCleaner, FeatureEngineer, ModelTrainer, Visualizer, and WaterborneDiseasePipeline orchestrator.</a:t>
            </a: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  <a:defRPr sz="1300"/>
            </a:pPr>
            <a:r>
              <a:t>• Current Milestone Status: ~60% Implemented (Minimum 50% Review-2 requirement exceeded).</a:t>
            </a:r>
          </a:p>
          <a:p>
            <a:br/>
            <a:pPr>
              <a:defRPr sz="1300"/>
            </a:pPr>
            <a:r>
              <a:t>• Implemented &amp; Verified Modules:</a:t>
            </a:r>
          </a:p>
          <a:p>
            <a:pPr>
              <a:defRPr sz="1300"/>
            </a:pPr>
            <a:r>
              <a:t>   - Data Cleaning &amp; Preprocessing: 100% complete (1,434 NaNs imputed, 0 duplicates, 0 data loss).</a:t>
            </a:r>
          </a:p>
          <a:p>
            <a:pPr>
              <a:defRPr sz="1300"/>
            </a:pPr>
            <a:r>
              <a:t>   - Feature Engineering: 100% complete (CRI &amp; pH deviation formulations verified).</a:t>
            </a:r>
          </a:p>
          <a:p>
            <a:pPr>
              <a:defRPr sz="1300"/>
            </a:pPr>
            <a:r>
              <a:t>   - Model Benchmarking: Random Forest achieves 62.96% accuracy (beats naive 61% baseline; matches academic 64-68% benchmark); Logistic Regression achieves 50.46%.</a:t>
            </a:r>
          </a:p>
          <a:p>
            <a:pPr>
              <a:defRPr sz="1300"/>
            </a:pPr>
            <a:r>
              <a:t>   - Diagnostics &amp; Feature Importance: Sulfate (15.6%), pH (12.2%), Hardness (11.3%) identified as top drivers.</a:t>
            </a:r>
          </a:p>
          <a:p>
            <a:pPr>
              <a:defRPr sz="1300"/>
            </a:pPr>
            <a:r>
              <a:t>   - GIS Outbreak Surveillance: outbreak_risk_map.html functional with CartoDB, Esri, and Satellite views.</a:t>
            </a:r>
          </a:p>
          <a:p>
            <a:pPr>
              <a:defRPr sz="1300"/>
            </a:pPr>
            <a:r>
              <a:t>   - Code Architecture: Clean Object-Oriented pipeline (pipeline_oop.py) committed to GitHub.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Individual Contribution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  <a:defRPr sz="1250"/>
            </a:pPr>
            <a:r>
              <a:t>• Student 1: Sriram (Team Leader)</a:t>
            </a:r>
          </a:p>
          <a:p>
            <a:pPr>
              <a:defRPr sz="1250"/>
            </a:pPr>
            <a:r>
              <a:t>   - Problem definition, real-world lab delay analysis, data ingestion &amp; Median Imputation logic (01_data_loading_and_cleaning.py).</a:t>
            </a:r>
          </a:p>
          <a:p>
            <a:pPr>
              <a:defRPr sz="1250"/>
            </a:pPr>
            <a:r>
              <a:t>   - Object-Oriented software architecture design (pipeline_oop.py) and GitHub repository management.</a:t>
            </a:r>
          </a:p>
          <a:p>
            <a:br/>
            <a:pPr>
              <a:defRPr sz="1250"/>
            </a:pPr>
            <a:r>
              <a:t>• Student 2: [Team Member 2 Name]</a:t>
            </a:r>
          </a:p>
          <a:p>
            <a:pPr>
              <a:defRPr sz="1250"/>
            </a:pPr>
            <a:r>
              <a:t>   - Domain feature engineering (CRI formulation, pH deviation), 80/20 stratified split, and Random Forest vs. LR training (02, 03).</a:t>
            </a:r>
          </a:p>
          <a:p>
            <a:pPr>
              <a:defRPr sz="1250"/>
            </a:pPr>
            <a:r>
              <a:t>   - Gini feature importance extraction and diagnostic visualization generation (feature_importance.png).</a:t>
            </a:r>
          </a:p>
          <a:p>
            <a:br/>
            <a:pPr>
              <a:defRPr sz="1250"/>
            </a:pPr>
            <a:r>
              <a:t>• Student 3: [Team Member 3 Name]</a:t>
            </a:r>
          </a:p>
          <a:p>
            <a:pPr>
              <a:defRPr sz="1250"/>
            </a:pPr>
            <a:r>
              <a:t>   - GIS spatial surveillance engine (gis_outbreak_mapper.py), Folium multi-layer mapping, and outbreak_risk_map.html.</a:t>
            </a:r>
          </a:p>
          <a:p>
            <a:pPr>
              <a:defRPr sz="1250"/>
            </a:pPr>
            <a:r>
              <a:t>   - Epidemiological pathogen vector rules (Cholera, Typhoid) and automated municipal action protocol generation.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  <a:defRPr sz="1300"/>
            </a:pPr>
            <a:r>
              <a:t>• Public GitHub Repository URL:</a:t>
            </a:r>
          </a:p>
          <a:p>
            <a:pPr>
              <a:defRPr sz="1300"/>
            </a:pPr>
            <a:r>
              <a:t>   https://github.com/Sriram-012/waterborne-disease-prediction</a:t>
            </a:r>
          </a:p>
          <a:p>
            <a:br/>
            <a:pPr>
              <a:defRPr sz="1300"/>
            </a:pPr>
            <a:r>
              <a:t>• Verified Repository Contents (Public Access):</a:t>
            </a:r>
          </a:p>
          <a:p>
            <a:pPr>
              <a:defRPr sz="1300"/>
            </a:pPr>
            <a:r>
              <a:t>   - 01_data_loading_and_cleaning.py (Data Ingestion &amp; Median Imputation)</a:t>
            </a:r>
          </a:p>
          <a:p>
            <a:pPr>
              <a:defRPr sz="1300"/>
            </a:pPr>
            <a:r>
              <a:t>   - 02_feature_engineering.py (CRI &amp; pH Deviation Formulas)</a:t>
            </a:r>
          </a:p>
          <a:p>
            <a:pPr>
              <a:defRPr sz="1300"/>
            </a:pPr>
            <a:r>
              <a:t>   - 03_model_training.py (Random Forest vs. Logistic Regression Benchmarking)</a:t>
            </a:r>
          </a:p>
          <a:p>
            <a:pPr>
              <a:defRPr sz="1300"/>
            </a:pPr>
            <a:r>
              <a:t>   - 04_feature_importance.py (Gini Importance &amp; Correlation Heatmap)</a:t>
            </a:r>
          </a:p>
          <a:p>
            <a:pPr>
              <a:defRPr sz="1300"/>
            </a:pPr>
            <a:r>
              <a:t>   - pipeline_oop.py (Enterprise Object-Oriented Architecture)</a:t>
            </a:r>
          </a:p>
          <a:p>
            <a:pPr>
              <a:defRPr sz="1300"/>
            </a:pPr>
            <a:r>
              <a:t>   - gis_outbreak_mapper.py &amp; outbreak_risk_map.html (Interactive GIS Spatial Engine)</a:t>
            </a:r>
          </a:p>
          <a:p>
            <a:pPr>
              <a:defRPr sz="1300"/>
            </a:pPr>
            <a:r>
              <a:t>   - run_all.py (Master 5-Stage Execution Runner)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1300"/>
            </a:pPr>
            <a:r>
              <a:t>• Key Findings &amp; Achievements (Review-2):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300"/>
            </a:pPr>
            <a:r>
              <a:t>   - Proved feasibility of using rapid chemical water parameters as an early-warning proxy before 48-hour bacterial lab cultures arrive.</a:t>
            </a:r>
          </a:p>
          <a:p>
            <a:pPr>
              <a:defRPr sz="1300"/>
            </a:pPr>
            <a:r>
              <a:t>   - Random Forest (62.96%) successfully models non-linear chemical thresholds, outperforming linear models.</a:t>
            </a:r>
          </a:p>
          <a:p>
            <a:pPr>
              <a:defRPr sz="1300"/>
            </a:pPr>
            <a:r>
              <a:t>   - Built an operational GIS prototype translating ML risk scores into localized public health advisories.</a:t>
            </a:r>
          </a:p>
          <a:p>
            <a:br/>
            <a:pPr>
              <a:defRPr sz="1300"/>
            </a:pPr>
            <a:r>
              <a:t>• Roadmap for Remaining 40% (Final Review):</a:t>
            </a:r>
          </a:p>
          <a:p>
            <a:pPr>
              <a:defRPr sz="1300"/>
            </a:pPr>
            <a:r>
              <a:t>   - 5-Fold Stratified Cross-Validation &amp; Hyperparameter Tuning (GridSearchCV).</a:t>
            </a:r>
          </a:p>
          <a:p>
            <a:pPr>
              <a:defRPr sz="1300"/>
            </a:pPr>
            <a:r>
              <a:t>   - Class imbalance handling using SMOTE oversampling.</a:t>
            </a:r>
          </a:p>
          <a:p>
            <a:pPr>
              <a:defRPr sz="1300"/>
            </a:pPr>
            <a:r>
              <a:t>   - Interactive Streamlit web interface for municipal operators.</a:t>
            </a:r>
          </a:p>
          <a:p>
            <a:pPr>
              <a:defRPr sz="1300"/>
            </a:pPr>
            <a:r>
              <a:t>   - Real-time IoT sensor data streaming integration.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  <a:defRPr sz="1150"/>
            </a:pPr>
            <a:r>
              <a:t>[1] World Health Organization. (2022). Guidelines for drinking-water quality (4th ed.). Geneva: WHO Press.</a:t>
            </a:r>
          </a:p>
          <a:p>
            <a:pPr>
              <a:defRPr sz="1150"/>
            </a:pPr>
            <a:r>
              <a:t>[2] Kadiwal, A. (2021). Water Potability Dataset: Water Quality Metrics for Potability Prediction. Kaggle Benchmark Dataset.</a:t>
            </a:r>
          </a:p>
          <a:p>
            <a:pPr>
              <a:defRPr sz="1150"/>
            </a:pPr>
            <a:r>
              <a:t>[3] Breiman, L. (2001). Random Forests. Machine Learning, 45(1), 5-32.</a:t>
            </a:r>
          </a:p>
          <a:p>
            <a:pPr>
              <a:defRPr sz="1150"/>
            </a:pPr>
            <a:r>
              <a:t>[4] Pedregosa, F., et al. (2011). Scikit-learn: Machine Learning in Python. Journal of Machine Learning Research, 12, 2825-2830.</a:t>
            </a:r>
          </a:p>
          <a:p>
            <a:pPr>
              <a:defRPr sz="1150"/>
            </a:pPr>
            <a:r>
              <a:t>[5] Few, R., Lake, I., &amp; Hunter, P. R. (2013). Floods, health and climate change: a strategic review. Tyndall Centre for Climate Change.</a:t>
            </a:r>
          </a:p>
          <a:p>
            <a:pPr>
              <a:defRPr sz="1150"/>
            </a:pPr>
            <a:r>
              <a:t>[6] Saha, S., &amp; Bhowmik, S. (2020). Water quality index prediction using machine learning algorithms. Environmental Monitoring and Assessment, 192(11), 1-28.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389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Statement: </vt:lpstr>
      <vt:lpstr>Objectives</vt:lpstr>
      <vt:lpstr>Literature/research understanding </vt:lpstr>
      <vt:lpstr>Methodology and Architecture</vt:lpstr>
      <vt:lpstr>Implementation Progress</vt:lpstr>
      <vt:lpstr>Individual Contribution</vt:lpstr>
      <vt:lpstr>Github Link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47</cp:revision>
  <dcterms:modified xsi:type="dcterms:W3CDTF">2026-09-23T15:03:18Z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