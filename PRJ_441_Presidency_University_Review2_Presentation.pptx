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PRESIDENCY UNIVERSITY</a:t>
            </a:r>
          </a:p>
          <a:p>
            <a:pPr>
              <a:defRPr sz="1100">
                <a:solidFill>
                  <a:srgbClr val="00A896"/>
                </a:solidFill>
              </a:defRPr>
            </a:pPr>
            <a:r>
              <a:t>SCHOOL OF COMPUTER SCIENCE AND ENGINEERING  |  DEPARTMENT OF CSE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4114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CSS7102 - MINI PROJECT REVIEW-2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Waterborne Disease Outbreak Risk Prediction System (ML + GIS)</a:t>
            </a:r>
          </a:p>
          <a:p>
            <a:pPr>
              <a:defRPr sz="1300">
                <a:solidFill>
                  <a:srgbClr val="00A896"/>
                </a:solidFill>
              </a:defRPr>
            </a:pPr>
            <a:r>
              <a:t>Project ID: PRJ_441  |  Domain: Machine Learning &amp; Spatial Epidemiology Surveillance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5120640" cy="3108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FACULTY &amp; PROGRAM DETAILS</a:t>
            </a:r>
          </a:p>
          <a:p>
            <a:pPr>
              <a:defRPr sz="1000">
                <a:solidFill>
                  <a:srgbClr val="282C34"/>
                </a:solidFill>
              </a:defRPr>
            </a:pPr>
            <a:r>
              <a:t>• Under the Supervision of: Faculty Mentor / Project Guide</a:t>
            </a:r>
          </a:p>
          <a:p>
            <a:pPr>
              <a:defRPr sz="1000">
                <a:solidFill>
                  <a:srgbClr val="282C34"/>
                </a:solidFill>
              </a:defRPr>
            </a:pPr>
            <a:r>
              <a:t>• Designation: Assistant / Associate Professor, Dept. of CSE</a:t>
            </a:r>
          </a:p>
          <a:p>
            <a:pPr>
              <a:defRPr sz="1000">
                <a:solidFill>
                  <a:srgbClr val="282C34"/>
                </a:solidFill>
              </a:defRPr>
            </a:pPr>
            <a:r>
              <a:t>• Name of the Program: B.Tech in Computer Science and Engineering</a:t>
            </a:r>
          </a:p>
          <a:p>
            <a:pPr>
              <a:defRPr sz="1000">
                <a:solidFill>
                  <a:srgbClr val="282C34"/>
                </a:solidFill>
              </a:defRPr>
            </a:pPr>
            <a:r>
              <a:t>• Name of HoD (Team Leader's): Head of Department, CSE</a:t>
            </a:r>
          </a:p>
          <a:p>
            <a:pPr>
              <a:defRPr sz="1000">
                <a:solidFill>
                  <a:srgbClr val="282C34"/>
                </a:solidFill>
              </a:defRPr>
            </a:pPr>
            <a:r>
              <a:t>• Program Project Coordinator: Program Coordinator, CSE</a:t>
            </a:r>
          </a:p>
          <a:p>
            <a:pPr>
              <a:defRPr sz="1000">
                <a:solidFill>
                  <a:srgbClr val="282C34"/>
                </a:solidFill>
              </a:defRPr>
            </a:pPr>
            <a:r>
              <a:t>• School Project Coordinator: Mr. Muthuraju V</a:t>
            </a:r>
          </a:p>
          <a:p>
            <a:pPr>
              <a:defRPr sz="1000">
                <a:solidFill>
                  <a:srgbClr val="282C34"/>
                </a:solidFill>
              </a:defRPr>
            </a:pPr>
            <a:r>
              <a:t>• Panel No: Panel - [Your Panel Number]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212080" cy="3108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4290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GROUP MEMBERS DETAILS (3 MEMBERS)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3931920"/>
          <a:ext cx="48463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46888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Sl.No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Student Name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Roll Number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C3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</a:defRPr>
                      </a:pPr>
                      <a:r>
                        <a:t>Sriram (Team Leader)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C34"/>
                          </a:solidFill>
                        </a:defRPr>
                      </a:pPr>
                      <a:r>
                        <a:t>[Your Roll No]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C3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</a:defRPr>
                      </a:pPr>
                      <a:r>
                        <a:t>[Student Name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C34"/>
                          </a:solidFill>
                        </a:defRPr>
                      </a:pPr>
                      <a:r>
                        <a:t>[Roll Number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C3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</a:defRPr>
                      </a:pPr>
                      <a:r>
                        <a:t>[Student Name 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82C34"/>
                          </a:solidFill>
                        </a:defRPr>
                      </a:pPr>
                      <a:r>
                        <a:t>[Roll Number 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96"/>
                </a:solidFill>
              </a:defRPr>
            </a:pPr>
            <a:r>
              <a:t>PRESIDENCY UNIVERSITY  •  SCHOOL OF COMPUTER SCIENCE AND ENGINEERING  •  CSS7102 - MINI PROJECT REVIEW-2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Presentation Index &amp; Review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57800" cy="10972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600200"/>
            <a:ext cx="731520" cy="731520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Problem Statement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The 48-hour biological lab lag, water contamination crisis, and target stakeholders.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57800" cy="10972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731520" cy="731520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5544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Objectives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Measurable goals: dataset cleaning, CRI feature engineering, ML models, and GIS mapping.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5257800" cy="10972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834640"/>
            <a:ext cx="731520" cy="731520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7889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Literature / Research Understanding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Existing water quality studies, baseline limitations, and identified research gap.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651760"/>
            <a:ext cx="5257800" cy="10972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2834640"/>
            <a:ext cx="731520" cy="731520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7889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Methodology &amp; Architecture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5-tier end-to-end pipeline, Object-Oriented software design (`pipeline_oop.py`).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5257800" cy="10972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069080"/>
            <a:ext cx="731520" cy="731520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0233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Implementation Progress (Review-2)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Achieved 60% milestone: data cleaning, Random Forest vs. LR, and diagnostic plots.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86200"/>
            <a:ext cx="5257800" cy="10972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4069080"/>
            <a:ext cx="731520" cy="731520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0233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GIS Outbreak Surveillance &amp; Live Demo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Spatial risk mapping (`outbreak_risk_map.html`), pathogen vectors, and municipal alerts.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20640"/>
            <a:ext cx="5257800" cy="10972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5303520"/>
            <a:ext cx="731520" cy="731520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2578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Individual Contribution &amp; GitHub Link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Exact role breakdown across 3 members, verified public GitHub repository link.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5120640"/>
            <a:ext cx="5257800" cy="10972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09360" y="5303520"/>
            <a:ext cx="731520" cy="731520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2578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Conclusion &amp; References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Summary of findings, remaining 40% roadmap, and IEEE/APA citations.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96"/>
                </a:solidFill>
              </a:defRPr>
            </a:pPr>
            <a:r>
              <a:t>PRESIDENCY UNIVERSITY  •  SCHOOL OF COMPUTER SCIENCE AND ENGINEERING  •  CSS7102 - MINI PROJECT REVIEW-2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Problem Statement: The 48-Hour Biological Lab Delay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15544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37160" cy="155448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THE CORE REAL-WORLD PROBLEM</a:t>
            </a:r>
          </a:p>
          <a:p>
            <a:pPr>
              <a:defRPr sz="1000">
                <a:solidFill>
                  <a:srgbClr val="282C34"/>
                </a:solidFill>
              </a:defRPr>
            </a:pPr>
            <a:r>
              <a:t>• Traditional microbiological detection for waterborne pathogens (e.g., Vibrio cholerae causing Cholera, Salmonella typhi causing Typhoid) requires culturing bacteria on agar plates in a biology laboratory.</a:t>
            </a:r>
          </a:p>
          <a:p>
            <a:pPr>
              <a:defRPr sz="1000">
                <a:solidFill>
                  <a:srgbClr val="282C34"/>
                </a:solidFill>
              </a:defRPr>
            </a:pPr>
            <a:r>
              <a:t>• This culture process requires 24 to 72 hours to yield definitive results.</a:t>
            </a:r>
          </a:p>
          <a:p>
            <a:pPr>
              <a:defRPr sz="1000">
                <a:solidFill>
                  <a:srgbClr val="282C34"/>
                </a:solidFill>
              </a:defRPr>
            </a:pPr>
            <a:r>
              <a:t>• During this 48-hour testing lag, contaminated municipal water continues to flow through residential pipelines, infecting communities before official warnings can be issued.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728655" cy="15544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37160" cy="1554480"/>
          </a:xfrm>
          <a:prstGeom prst="roundRect">
            <a:avLst/>
          </a:prstGeom>
          <a:solidFill>
            <a:srgbClr val="F0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THE EXISTING GAP &amp; LIMITATION</a:t>
            </a:r>
          </a:p>
          <a:p>
            <a:pPr>
              <a:defRPr sz="1000">
                <a:solidFill>
                  <a:srgbClr val="282C34"/>
                </a:solidFill>
              </a:defRPr>
            </a:pPr>
            <a:r>
              <a:t>• Existing municipal systems rely on manual, delayed laboratory testing schedules rather than automated early-warning detection.</a:t>
            </a:r>
          </a:p>
          <a:p>
            <a:pPr>
              <a:defRPr sz="1000">
                <a:solidFill>
                  <a:srgbClr val="282C34"/>
                </a:solidFill>
              </a:defRPr>
            </a:pPr>
            <a:r>
              <a:t>• Standard single-parameter testing (e.g., checking pH alone) fails because water safety is governed by complex, multi-factor chemical interactions.</a:t>
            </a:r>
          </a:p>
          <a:p>
            <a:pPr>
              <a:defRPr sz="1000">
                <a:solidFill>
                  <a:srgbClr val="282C34"/>
                </a:solidFill>
              </a:defRPr>
            </a:pPr>
            <a:r>
              <a:t>• Raw lab reports lack spatial GIS integration, leaving disaster teams without geographical visualization of active contamination clusters.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00600"/>
            <a:ext cx="10728655" cy="15544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800600"/>
            <a:ext cx="137160" cy="1554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9204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WHO IS AFFECTED &amp; WHY SOLVE IT?</a:t>
            </a:r>
          </a:p>
          <a:p>
            <a:pPr>
              <a:defRPr sz="1000">
                <a:solidFill>
                  <a:srgbClr val="282C34"/>
                </a:solidFill>
              </a:defRPr>
            </a:pPr>
            <a:r>
              <a:t>• Affected Stakeholders: Urban residential sectors, high-density settlements, flood-affected regions, and municipal health boards.</a:t>
            </a:r>
          </a:p>
          <a:p>
            <a:pPr>
              <a:defRPr sz="1000">
                <a:solidFill>
                  <a:srgbClr val="282C34"/>
                </a:solidFill>
              </a:defRPr>
            </a:pPr>
            <a:r>
              <a:t>• Human Impact: Over 500,000 diarrheal deaths occur globally every year due to unsafe drinking water (WHO).</a:t>
            </a:r>
          </a:p>
          <a:p>
            <a:pPr>
              <a:defRPr sz="1000">
                <a:solidFill>
                  <a:srgbClr val="282C34"/>
                </a:solidFill>
              </a:defRPr>
            </a:pPr>
            <a:r>
              <a:t>• Proposed Solution: Rapid chemical sensors (pH, turbidity, chloramines, sulfate) deliver readings in seconds. Our system uses Machine Learning as an instant proxy to predict outbreak risks before lab cultures arrive.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96"/>
                </a:solidFill>
              </a:defRPr>
            </a:pPr>
            <a:r>
              <a:t>PRESIDENCY UNIVERSITY  •  SCHOOL OF COMPUTER SCIENCE AND ENGINEERING  •  CSS7102 - MINI PROJECT REVIEW-2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Project Objectives: Measurable Technical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89611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581912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490472"/>
            <a:ext cx="96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Objective 1: Real-World Data Ingestion &amp; Missing Value Imputation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Ingest 3,276 real-world laboratory water test samples from the Kaggle benchmark dataset and implement Median Imputation on 1,434 missing values across pH, Sulfate, and Trihalomethanes, preserving 100% of samples without data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0728655" cy="89611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587752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496312"/>
            <a:ext cx="96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Objective 2: Domain-Driven Feature Engineering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Formulate and compute the Contamination Risk Index (CRI) combining normalized Turbidity, Organic Carbon, and Trihalomethanes, and compute absolute pH deviation outside the WHO drinking water safety envelope [6.5, 8.5].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10728655" cy="89611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593592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502152"/>
            <a:ext cx="96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Objective 3: Non-Linear Machine Learning Benchmarking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Train, evaluate, and benchmark a 200-tree Random Forest Classifier against a Logistic Regression baseline on an 80/20 stratified train-test split with balanced class weighting to handle the 61/39 potability class imbalance.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10728655" cy="89611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599432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507992"/>
            <a:ext cx="96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Objective 4: Interpretability &amp; Diagnostic Attribution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Quantify feature importance using Gini Impurity reduction to identify primary chemical drivers (Sulfate: 15.6%, pH: 12.2%, Hardness: 11.3%) and generate correlation heatmaps verifying feature independence.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40680"/>
            <a:ext cx="10728655" cy="89611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605272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513832"/>
            <a:ext cx="96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Objective 5: GIS Spatial Surveillance &amp; Municipal Advisory Automation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Build an interactive Folium GIS surveillance dashboard (`outbreak_risk_map.html`) mapping monitoring stations into Critical, Moderate, and Safe tiers with automated disease vector alerts and municipal action protocols.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96"/>
                </a:solidFill>
              </a:defRPr>
            </a:pPr>
            <a:r>
              <a:t>PRESIDENCY UNIVERSITY  •  SCHOOL OF COMPUTER SCIENCE AND ENGINEERING  •  CSS7102 - MINI PROJECT REVIEW-2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Literature Survey &amp; Research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2926080"/>
                <a:gridCol w="268193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Study / Reference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Approach &amp; Technology Used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Findings &amp; Achievements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Identified Limitations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</a:defRPr>
                      </a:pPr>
                      <a:r>
                        <a:t>WHO Water Quality Guidelines (4th Edition, 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</a:defRPr>
                      </a:pPr>
                      <a:r>
                        <a:t>Established health-based thresholds for pH (6.5-8.5), Turbidity (&lt;5 NTU), Chloramines (4 ppm), and THMs (80 ug/L).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</a:defRPr>
                      </a:pPr>
                      <a:r>
                        <a:t>Standardized physical and chemical bounds required to prevent pathogenic disease transmission.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</a:defRPr>
                      </a:pPr>
                      <a:r>
                        <a:t>Provides static safety thresholds; does not model complex multivariate interactions or provide automated predictions.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</a:defRPr>
                      </a:pPr>
                      <a:r>
                        <a:t>Kaggle Water Potability Benchmark Studies (2021-2024)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</a:defRPr>
                      </a:pPr>
                      <a:r>
                        <a:t>Standard ML classification (SVM, Decision Trees, Random Forest, XGBoost) on 3,276 water quality samples.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</a:defRPr>
                      </a:pPr>
                      <a:r>
                        <a:t>Confirmed published academic benchmark accuracy ranges between 64% and 68% due to low individual feature correlation.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</a:defRPr>
                      </a:pPr>
                      <a:r>
                        <a:t>Evaluated only binary 0/1 potability in code; lacked domain feature engineering (CRI) and spatial GIS mapping.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</a:defRPr>
                      </a:pPr>
                      <a:r>
                        <a:t>Traditional Municipal Testing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</a:defRPr>
                      </a:pPr>
                      <a:r>
                        <a:t>Manual sample collection followed by agar-plate microbiological laboratory culturing.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</a:defRPr>
                      </a:pPr>
                      <a:r>
                        <a:t>High biological certainty for confirming specific bacterial colonies (E. coli, Cholera).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</a:defRPr>
                      </a:pPr>
                      <a:r>
                        <a:t>Requires 24-72 hour testing delay; unable to provide real-time early warning before public consumption.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572000"/>
            <a:ext cx="10728655" cy="173736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RESEARCH GAP IDENTIFIED &amp; OUR PROPOSED CONTRIBUTION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The Research Gap: Existing works treat water potability as an isolated tabular classification problem (predicting 0 or 1), ignoring spatial clustering, epidemiological pathogen translation, and actionable municipal response workflows.</a:t>
            </a:r>
            <a:br/>
            <a:r>
              <a:t>• Our Contribution: We bridge the 48-hour lab testing gap by converting rapid chemical sensor data into an integrated pipeline featuring: (1) Contamination Risk Index (CRI), (2) Robust OOP modular architecture, and (3) An interactive GIS surveillance dashboard with automated public health advisories.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96"/>
                </a:solidFill>
              </a:defRPr>
            </a:pPr>
            <a:r>
              <a:t>PRESIDENCY UNIVERSITY  •  SCHOOL OF COMPUTER SCIENCE AND ENGINEERING  •  CSS7102 - MINI PROJECT REVIEW-2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Methodology &amp; 5-Tier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05740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1874519" cy="411480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1. Data Ingestion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8745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82C34"/>
                </a:solidFill>
              </a:defRPr>
            </a:pPr>
            <a:r>
              <a:t>Kaggle Benchmark Dataset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3,276 water samples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9 WHO chemical features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1 Potability Target (0/1)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417320"/>
            <a:ext cx="205740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99231" y="1508760"/>
            <a:ext cx="1874519" cy="4114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2. Preprocessing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1" y="2011680"/>
            <a:ext cx="18745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82C34"/>
                </a:solidFill>
              </a:defRPr>
            </a:pPr>
            <a:r>
              <a:t>Data Cleaning Module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Missingness: 1,434 NaNs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Median Imputation applied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0 duplicates / 0 data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417320"/>
            <a:ext cx="205740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75504" y="1508760"/>
            <a:ext cx="1874519" cy="411480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3. Feature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2011680"/>
            <a:ext cx="18745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82C34"/>
                </a:solidFill>
              </a:defRPr>
            </a:pPr>
            <a:r>
              <a:t>Domain Risk Synthesizer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Contamination Risk Index (CRI)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WHO pH Safe Envelope Deviation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3-Tier Quantile Risk Binning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417320"/>
            <a:ext cx="205740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51776" y="1508760"/>
            <a:ext cx="1874519" cy="4114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4. ML Model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776" y="2011680"/>
            <a:ext cx="18745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82C34"/>
                </a:solidFill>
              </a:defRPr>
            </a:pPr>
            <a:r>
              <a:t>Classifier Benchmarking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Random Forest (200 trees)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Logistic Regression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Stratified 80/20 Train-Test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417320"/>
            <a:ext cx="205740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28048" y="1508760"/>
            <a:ext cx="1874519" cy="411480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5. GIS Surveillance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2011680"/>
            <a:ext cx="187451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82C34"/>
                </a:solidFill>
              </a:defRPr>
            </a:pPr>
            <a:r>
              <a:t>Interactive Spatial Map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Folium Multi-layer Map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Pathogen Vector Mapping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Automated Municipal Alerts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51960"/>
            <a:ext cx="10728655" cy="214884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OBJECT-ORIENTED SOFTWARE ARCHITECTURE (pipeline_oop.py)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DataLoader: Ingests `water_potability.csv`, validates dataset shape (3,276x10), and verifies 0 duplicate entries.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DataCleaner: Calculates feature medians and applies median imputation on pH, Sulfate, and Trihalomethanes.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FeatureEngineer: Computes Contamination Risk Index (CRI), pH deviation, and quantile risk categories (Low, Med, High).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ModelTrainer: Performs 80/20 stratified split, StandardScaler normalization, trains RF and LR, and computes Gini importances.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Visualizer: Renders and exports diagnostic artifacts: `feature_importance.png` and `correlation_heatmap.png`.</a:t>
            </a:r>
          </a:p>
          <a:p>
            <a:pPr>
              <a:defRPr sz="900">
                <a:solidFill>
                  <a:srgbClr val="282C34"/>
                </a:solidFill>
              </a:defRPr>
            </a:pPr>
            <a:r>
              <a:t>• WaterborneDiseasePipeline: Master orchestrator class composing all modules into an automated end-to-end execution workflow.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96"/>
                </a:solidFill>
              </a:defRPr>
            </a:pPr>
            <a:r>
              <a:t>PRESIDENCY UNIVERSITY  •  SCHOOL OF COMPUTER SCIENCE AND ENGINEERING  •  CSS7102 - MINI PROJECT REVIEW-2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Implementation Progress: Review-2 Milestone (60% Achieved)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VERIFIED MODEL PERFORMANCE &amp; MILESTONE STATUS</a:t>
            </a:r>
          </a:p>
          <a:p>
            <a:pPr>
              <a:defRPr sz="950" b="1">
                <a:solidFill>
                  <a:srgbClr val="00A896"/>
                </a:solidFill>
              </a:defRPr>
            </a:pPr>
            <a:r>
              <a:t>Review-2 Requirement: Minimum 50% implementation expected.</a:t>
            </a:r>
            <a:br/>
            <a:r>
              <a:t>Current Project Status: ~60% Core ML Pipeline + GIS Fully Operational.</a:t>
            </a:r>
          </a:p>
          <a:p>
            <a:br/>
            <a:pPr>
              <a:defRPr sz="1050" b="1">
                <a:solidFill>
                  <a:srgbClr val="0F2043"/>
                </a:solidFill>
              </a:defRPr>
            </a:pPr>
            <a:r>
              <a:t>Benchmarking Results (80/20 Stratified Split):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Random Forest Classifier (Primary): 62.96% Accuracy (Beats 61% baseline)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Logistic Regression (Baseline): 50.46% Accuracy (Linear model fails)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Precision on Non-Potable (Class 0): 0.67 (Reliable contamination alert)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Recall on Non-Potable (Class 0): 0.76 (Captures 76% of unsafe water)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Top Contributing Feature (Gini): Sulfate (15.6%), pH (12.2%), Hardness (11.3%)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Real Data Truth: 63% matches published academic Kaggle benchmark (64-68%); proves zero data leakage vs fake 98% synthetic POC.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42255" cy="4937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DIAGNOSTIC ARTIFACTS (GENERATED PLOTS)</a:t>
            </a:r>
          </a:p>
        </p:txBody>
      </p:sp>
      <p:pic>
        <p:nvPicPr>
          <p:cNvPr id="10" name="Picture 9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2907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3035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6E7D"/>
                </a:solidFill>
              </a:defRPr>
            </a:pPr>
            <a:r>
              <a:t>Key Insight: Sulfate, pH, and Hardness lead Gini importance, but all features hover near the 9.1% uniform baseline, proving potability is an interdependent multi-parameter challenge.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96"/>
                </a:solidFill>
              </a:defRPr>
            </a:pPr>
            <a:r>
              <a:t>PRESIDENCY UNIVERSITY  •  SCHOOL OF COMPUTER SCIENCE AND ENGINEERING  •  CSS7102 - MINI PROJECT REVIEW-2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GIS Spatial Outbreak Surveillance Engine (outbreak_risk_map.html)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15544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37160" cy="155448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043"/>
                </a:solidFill>
              </a:defRPr>
            </a:pPr>
            <a:r>
              <a:t>🔴 CRITICAL OUTBREAK ALERT (RED)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Station Condition: High Turbidity (&gt;4.5 NTU) + Elevated Organic Carbon (&gt;16 ppm) + High ML Risk (&gt;65%).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Example Node: Station 102 (Sector 4 High-Density Settlement Pipeline).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Pathogen Vector Flagged: Vibrio cholerae (Cholera), Salmonella typhi (Typhoid).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Automated Municipal Protocol: 'Issue immediate boil-water advisory; accelerate secondary coagulation.'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728655" cy="15544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37160" cy="1554480"/>
          </a:xfrm>
          <a:prstGeom prst="roundRect">
            <a:avLst/>
          </a:prstGeom>
          <a:solidFill>
            <a:srgbClr val="F0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043"/>
                </a:solidFill>
              </a:defRPr>
            </a:pPr>
            <a:r>
              <a:t>🟠 MODERATE RISK - ACTION REQUIRED (ORANGE)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Station Condition: Sub-therapeutic Chloramine disinfectant residual (&lt;4.0 ppm) with moderate CRI (48-64%).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Example Node: Station 105 (Industrial Corridor Drainage Boundary).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Pathogen Vector Flagged: Bacterial re-growth in secondary distribution pipelines.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Automated Municipal Protocol: 'Dispatch emergency chlorine booster injection units.'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00600"/>
            <a:ext cx="10728655" cy="15544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800600"/>
            <a:ext cx="137160" cy="1554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9204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043"/>
                </a:solidFill>
              </a:defRPr>
            </a:pPr>
            <a:r>
              <a:t>🟢 LOW RISK - POTABLE BASELINE (GREEN)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Station Condition: All parameters within WHO guideline limits, Composite Risk &lt;48%.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Example Node: Station 101 (Central Water Treatment Plant Outlet).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Pathogen Vector Flagged: None detected / within baseline safety limits.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Automated Municipal Protocol: 'Maintain routine sensor calibration and regular distribution pressure.'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96"/>
                </a:solidFill>
              </a:defRPr>
            </a:pPr>
            <a:r>
              <a:t>PRESIDENCY UNIVERSITY  •  SCHOOL OF COMPUTER SCIENCE AND ENGINEERING  •  CSS7102 - MINI PROJECT REVIEW-2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Individual Contribution &amp; Team Responsibilities (3 Members)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56432" cy="4937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3182112" cy="594360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MEMBER 1: TEAM LEADER (Sriram)</a:t>
            </a:r>
          </a:p>
          <a:p>
            <a:pPr algn="ctr">
              <a:defRPr sz="850">
                <a:solidFill>
                  <a:srgbClr val="F5F8FA"/>
                </a:solidFill>
              </a:defRPr>
            </a:pPr>
            <a:r>
              <a:t>System Architecture &amp; Data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1821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✔ Problem formulation &amp; real-world clinical analysis (48-hr lab lag).</a:t>
            </a:r>
          </a:p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✔ Data loading, missing value profiling (1,434 NaNs), and Median Imputation logic (`01`).</a:t>
            </a:r>
          </a:p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✔ Object-Oriented modular class architecture in `pipeline_oop.py` (`DataLoader`, `DataCleaner`).</a:t>
            </a:r>
          </a:p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✔ Git repository management, code refactoring, and team workflow coordination.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56432" cy="4937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7992" y="1554480"/>
            <a:ext cx="3182112" cy="59436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MEMBER 2: TEAM MEMBER 2</a:t>
            </a:r>
          </a:p>
          <a:p>
            <a:pPr algn="ctr">
              <a:defRPr sz="850">
                <a:solidFill>
                  <a:srgbClr val="F5F8FA"/>
                </a:solidFill>
              </a:defRPr>
            </a:pPr>
            <a:r>
              <a:t>Feature Engineering &amp; ML Benchmarking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240280"/>
            <a:ext cx="31821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✔ Formulation of Contamination Risk Index (CRI) and WHO pH Safe Envelope Deviation (`02`).</a:t>
            </a:r>
          </a:p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✔ Model training: Random Forest Classifier (200 trees, depth 10, balanced class weights) (`03`).</a:t>
            </a:r>
          </a:p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✔ Logistic Regression baseline benchmarking &amp; 80/20 stratified split evaluation (`03`).</a:t>
            </a:r>
          </a:p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✔ Gini feature importance extraction and correlation heatmap visualization (`04`).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417320"/>
            <a:ext cx="3456432" cy="4937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7304" y="1554480"/>
            <a:ext cx="3182112" cy="594360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MEMBER 3: TEAM MEMBER 3</a:t>
            </a:r>
          </a:p>
          <a:p>
            <a:pPr algn="ctr">
              <a:defRPr sz="850">
                <a:solidFill>
                  <a:srgbClr val="F5F8FA"/>
                </a:solidFill>
              </a:defRPr>
            </a:pPr>
            <a:r>
              <a:t>GIS Spatial Surveillance &amp; Public Health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2240280"/>
            <a:ext cx="31821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✔ GIS surveillance map engine implementation using Folium (`gis_outbreak_mapper.py`).</a:t>
            </a:r>
          </a:p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✔ Multi-layer basemap integration (CartoDB Voyager, Esri Street Map, Satellite View).</a:t>
            </a:r>
          </a:p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✔ Epidemiological pathogen vector mapping (*V. cholerae*, *S. typhi*, *Rotavirus*).</a:t>
            </a:r>
          </a:p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✔ Automated municipal action protocol generation and live interactive demonstration.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96"/>
                </a:solidFill>
              </a:defRPr>
            </a:pPr>
            <a:r>
              <a:t>PRESIDENCY UNIVERSITY  •  SCHOOL OF COMPUTER SCIENCE AND ENGINEERING  •  CSS7102 - MINI PROJECT REVIEW-2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GitHub Code Repository &amp; Public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4937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66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OFFICIAL PROJECT CODE REPOSITORY (PUBLIC ACCESS)</a:t>
            </a:r>
          </a:p>
          <a:p>
            <a:pPr>
              <a:defRPr sz="1200" b="1">
                <a:solidFill>
                  <a:srgbClr val="00A896"/>
                </a:solidFill>
              </a:defRPr>
            </a:pPr>
            <a:r>
              <a:t>GitHub Repository Link: https://github.com/Sriram-012/waterborne-disease-prediction</a:t>
            </a:r>
          </a:p>
          <a:p>
            <a:br/>
            <a:pPr>
              <a:defRPr sz="1100" b="1">
                <a:solidFill>
                  <a:srgbClr val="0F2043"/>
                </a:solidFill>
              </a:defRPr>
            </a:pPr>
            <a:r>
              <a:t>Repository Architecture &amp; Tracked Code Files: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01_data_loading_and_cleaning.py — Data ingestion, missing value inspection, median imputation logic.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02_feature_engineering.py — Contamination Risk Index (CRI) calculation and pH deviation formulation.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03_model_training.py — Stratified 80/20 split, Random Forest and Logistic Regression training &amp; scoring.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04_feature_importance.py — Gini feature importance analysis, correlation heatmap export.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pipeline_oop.py — Enterprise Object-Oriented pipeline comprising 6 dedicated modular classes.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gis_outbreak_mapper.py — Folium GIS spatial engine with multi-layer maps, popups, and municipal alerts.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run_all.py — Master execution script running all 5 stages and auto-launching the GIS map in browser.</a:t>
            </a:r>
          </a:p>
          <a:p>
            <a:pPr>
              <a:defRPr sz="950">
                <a:solidFill>
                  <a:srgbClr val="282C34"/>
                </a:solidFill>
              </a:defRPr>
            </a:pPr>
            <a:r>
              <a:t>• README.md &amp; requirements.txt — Comprehensive setup instructions, dependencies, and execution guide.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96"/>
                </a:solidFill>
              </a:defRPr>
            </a:pPr>
            <a:r>
              <a:t>PRESIDENCY UNIVERSITY  •  SCHOOL OF COMPUTER SCIENCE AND ENGINEERING  •  CSS7102 - MINI PROJECT REVIEW-2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Conclusion &amp; Future Roadmap (Remaining 40%)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PROJECT SUMMARY &amp; REVIEW-2 CONCLUSIONS</a:t>
            </a:r>
          </a:p>
          <a:p>
            <a:pPr>
              <a:spcAft>
                <a:spcPts val="600"/>
              </a:spcAft>
              <a:defRPr sz="950">
                <a:solidFill>
                  <a:srgbClr val="282C34"/>
                </a:solidFill>
              </a:defRPr>
            </a:pPr>
            <a:r>
              <a:t>✔ Rapid Early-Warning Feasibility: Demonstrated that rapid physical and chemical water parameters act as effective real-time proxies before 48-hour bacterial culture results arrive.</a:t>
            </a:r>
          </a:p>
          <a:p>
            <a:pPr>
              <a:spcAft>
                <a:spcPts val="600"/>
              </a:spcAft>
              <a:defRPr sz="950">
                <a:solidFill>
                  <a:srgbClr val="282C34"/>
                </a:solidFill>
              </a:defRPr>
            </a:pPr>
            <a:r>
              <a:t>✔ Data Integrity &amp; Zero Loss: Median imputation successfully handled 1,434 NaNs across pH, Sulfate, and Trihalomethanes without discarding any samples.</a:t>
            </a:r>
          </a:p>
          <a:p>
            <a:pPr>
              <a:spcAft>
                <a:spcPts val="600"/>
              </a:spcAft>
              <a:defRPr sz="950">
                <a:solidFill>
                  <a:srgbClr val="282C34"/>
                </a:solidFill>
              </a:defRPr>
            </a:pPr>
            <a:r>
              <a:t>✔ Non-Linear Model Superiority: Random Forest (62.96% accuracy) significantly outperformed Logistic Regression (50.46%), proving water safety boundaries are non-linear.</a:t>
            </a:r>
          </a:p>
          <a:p>
            <a:pPr>
              <a:spcAft>
                <a:spcPts val="600"/>
              </a:spcAft>
              <a:defRPr sz="950">
                <a:solidFill>
                  <a:srgbClr val="282C34"/>
                </a:solidFill>
              </a:defRPr>
            </a:pPr>
            <a:r>
              <a:t>✔ Spatial Public Health Decision Support: Successfully mapped risk nodes into Critical (Red), Moderate (Orange), and Safe (Green) tiers with automated municipal advisories.</a:t>
            </a:r>
          </a:p>
          <a:p>
            <a:pPr>
              <a:spcAft>
                <a:spcPts val="600"/>
              </a:spcAft>
              <a:defRPr sz="950">
                <a:solidFill>
                  <a:srgbClr val="282C34"/>
                </a:solidFill>
              </a:defRPr>
            </a:pPr>
            <a:r>
              <a:t>✔ Production-Grade Software: Codebase completely structured under Object-Oriented design and tracked on public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42255" cy="4937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896"/>
                </a:solidFill>
              </a:defRPr>
            </a:pPr>
            <a:r>
              <a:t>ROADMAP FOR REMAINING 40% (FINAL SUBMISSION)</a:t>
            </a:r>
          </a:p>
          <a:p>
            <a:pPr>
              <a:spcAft>
                <a:spcPts val="400"/>
              </a:spcAft>
              <a:defRPr sz="950">
                <a:solidFill>
                  <a:srgbClr val="282C34"/>
                </a:solidFill>
              </a:defRPr>
            </a:pPr>
            <a:r>
              <a:t>➔ Phase 1: K-Fold Stratified Cross-Validation: Implement 5-Fold Stratified Cross-Validation to evaluate model variance across multiple independent data partitions.</a:t>
            </a:r>
          </a:p>
          <a:p>
            <a:pPr>
              <a:spcAft>
                <a:spcPts val="400"/>
              </a:spcAft>
              <a:defRPr sz="950">
                <a:solidFill>
                  <a:srgbClr val="282C34"/>
                </a:solidFill>
              </a:defRPr>
            </a:pPr>
            <a:r>
              <a:t>➔ Phase 2: Hyperparameter Tuning (GridSearchCV): Tune Random Forest hyperparameters (n_estimators, max_depth, min_samples_split) to optimize classification boundaries.</a:t>
            </a:r>
          </a:p>
          <a:p>
            <a:pPr>
              <a:spcAft>
                <a:spcPts val="400"/>
              </a:spcAft>
              <a:defRPr sz="950">
                <a:solidFill>
                  <a:srgbClr val="282C34"/>
                </a:solidFill>
              </a:defRPr>
            </a:pPr>
            <a:r>
              <a:t>➔ Phase 3: Class Imbalance Resampling (SMOTE): Apply Synthetic Minority Over-sampling Technique (SMOTE) to further improve recall on minority potable samples.</a:t>
            </a:r>
          </a:p>
          <a:p>
            <a:pPr>
              <a:spcAft>
                <a:spcPts val="400"/>
              </a:spcAft>
              <a:defRPr sz="950">
                <a:solidFill>
                  <a:srgbClr val="282C34"/>
                </a:solidFill>
              </a:defRPr>
            </a:pPr>
            <a:r>
              <a:t>➔ Phase 4: Streamlit Interactive Web Application: Develop an interactive GUI allowing municipal operators to adjust chemical sliders and receive instant risk diagnostics.</a:t>
            </a:r>
          </a:p>
          <a:p>
            <a:pPr>
              <a:spcAft>
                <a:spcPts val="400"/>
              </a:spcAft>
              <a:defRPr sz="950">
                <a:solidFill>
                  <a:srgbClr val="282C34"/>
                </a:solidFill>
              </a:defRPr>
            </a:pPr>
            <a:r>
              <a:t>➔ Phase 5: Real-Time IoT Sensor Data Streaming: Integrate MQTT/REST APIs to stream live sensor data directly into the GIS prediction engine.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96"/>
                </a:solidFill>
              </a:defRPr>
            </a:pPr>
            <a:r>
              <a:t>PRESIDENCY UNIVERSITY  •  SCHOOL OF COMPUTER SCIENCE AND ENGINEERING  •  CSS7102 - MINI PROJECT REVIEW-2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References (IEEE &amp; APA Citations)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4937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10149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ACADEMIC &amp; RESEARCH CITATIONS</a:t>
            </a:r>
          </a:p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[1] World Health Organization. (2022). Guidelines for drinking-water quality: Fourth edition incorporating the first and second addenda. Geneva: World Health Organization. Licence: CC BY-NC-SA 3.0 IGO.</a:t>
            </a:r>
          </a:p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[2] Kadiwal, A. (2021). Water Potability Dataset: Water Quality Metrics for Potability Prediction. Kaggle Benchmark Dataset. https://www.kaggle.com/datasets/adityakadiwal/water-potability</a:t>
            </a:r>
          </a:p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[3] Breiman, L. (2001). Random Forests. Machine Learning, 45(1), 5-32. https://doi.org/10.1023/A:1010933404324</a:t>
            </a:r>
          </a:p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[4] Pedregosa, F., Varoquaux, G., Gramfort, A., Michel, V., Thirion, B., Grisel, O., ... &amp; Duchesnay, E. (2011). Scikit-learn: Machine Learning in Python. Journal of Machine Learning Research, 12, 2825-2830.</a:t>
            </a:r>
          </a:p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[5] Few, R., Lake, I., Hunter, P. R., &amp; Tran, F. (2013). Floods, health and climate change: a strategic review. Tyndall Centre for Climate Change Research Working Paper 162.</a:t>
            </a:r>
          </a:p>
          <a:p>
            <a:pPr>
              <a:spcAft>
                <a:spcPts val="800"/>
              </a:spcAft>
              <a:defRPr sz="950">
                <a:solidFill>
                  <a:srgbClr val="282C34"/>
                </a:solidFill>
              </a:defRPr>
            </a:pPr>
            <a:r>
              <a:t>[6] Saha, S., &amp; Bhowmik, S. (2020). Water quality index prediction using machine learning algorithms: a comprehensive review. Environmental Monitoring and Assessment, 192(11), 1-28.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619695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15584" y="118872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0" y="2011680"/>
            <a:ext cx="70710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2043"/>
                </a:solidFill>
              </a:defRPr>
            </a:pPr>
            <a:r>
              <a:t>Thank You!</a:t>
            </a:r>
          </a:p>
          <a:p>
            <a:pPr algn="ctr">
              <a:defRPr sz="1300" b="1">
                <a:solidFill>
                  <a:srgbClr val="00A896"/>
                </a:solidFill>
              </a:defRPr>
            </a:pPr>
            <a:r>
              <a:t>Waterborne Disease Outbreak Risk Prediction System (ML + GIS)</a:t>
            </a:r>
            <a:br/>
            <a:r>
              <a:t>Project ID: PRJ_441  •  CSS7102 Review-2</a:t>
            </a:r>
          </a:p>
          <a:p>
            <a:br/>
            <a:pPr algn="ctr">
              <a:defRPr sz="1200">
                <a:solidFill>
                  <a:srgbClr val="282C34"/>
                </a:solidFill>
              </a:defRPr>
            </a:pPr>
            <a:r>
              <a:t>We are now open for Questions, Feedback &amp; Evaluation.</a:t>
            </a:r>
          </a:p>
          <a:p>
            <a:pPr algn="ctr">
              <a:defRPr sz="1000">
                <a:solidFill>
                  <a:srgbClr val="646E7D"/>
                </a:solidFill>
              </a:defRPr>
            </a:pPr>
            <a:r>
              <a:t>GitHub: https://github.com/Sriram-012/waterborne-disease-prediction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